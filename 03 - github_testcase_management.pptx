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16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tiêu slide mở đầu: sinh viên hiểu GitHub có thể dùng để quản lý vòng đời kiểm thử, không chỉ để lưu mã nguồn.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Nên dùng slide này để nêu tiêu chí đánh giá bài tập nhóm: test case đủ cấu trúc, có test run, có bug issue và có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sự khác biệt: test case là thiết kế trước khi test; bug chỉ sinh ra khi actual result khác expected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Đề xuất chính là mô hình hybrid: test case dùng file Markdown để đảm bảo versioning; bug dùng GitHub Issues để theo dõi trạng thái xử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giúp sinh viên biết cần nộp những file nào. Với lớp học, thư mục tests là minh chứng chấm điểm rất rõ ràng.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Gợi ý: yêu cầu sinh viên tạo một file index.md liệt kê tất cả Test Case ID theo module để tránh trùng mã.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thể yêu cầu sinh viên điền template này cho từng chức năng: Register, Login, Cart, Checkout,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test run không thay thế test case. Mỗi đợt test có thể tạo một file test-run riêng để lưu lịch sử.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 là nền tảng để lọc, tạo board và thống kê. Với dự án nhỏ, chỉ cần label là đủ; với Project có custom fields có thể giảm bớt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GitHub Projects: có thể tạo board và custom fields. Nên dùng một Project cho từng sprint hoặc một Project chung có field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trọng tâm. Nên yêu cầu sinh viên tạo một bug giả từ một test case fail để thực hành liên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Nên nhấn mạnh bug report là đơn vị giao việc cho developer; issue phải đủ thông tin tái hiện độc lập.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làm quy trình chính thức cho nhóm. Có thể giao vai trò: tester tạo bug, developer sửa, tester retest, test lead đóng.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matrix là phần rất quan trọng trong báo cáo cuối kỳ. Nó giúp trả lời yêu cầu nào chưa được test và bug nào đang còn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Với lớp nâng cao, có thể yêu cầu sinh viên đưa test automation chạy qua GitHub Actions và upload artifact test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checklist này để kiểm tra repository trước khi chấm.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841248"/>
            <a:ext cx="5349240" cy="3008376"/>
          </a:xfrm>
          <a:prstGeom prst="roundRect">
            <a:avLst>
              <a:gd name="adj" fmla="val 3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pic>
        <p:nvPicPr>
          <p:cNvPr id="3" name="Image 0" descr="/mnt/data/wide_clean_vector_illustration_style_scene_of_a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932688"/>
            <a:ext cx="5184648" cy="2916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1430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Quản lý Test Case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trên GitHub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</a:rPr>
              <a:t>Từ test case → test run → bug report → pull request → retest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9808" y="32461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>
                <a:solidFill>
                  <a:srgbClr val="E0F2FE"/>
                </a:solidFill>
              </a:rPr>
              <a:t>Software Testing</a:t>
            </a:r>
            <a:endParaRPr lang="en-US" sz="1320" dirty="0"/>
          </a:p>
        </p:txBody>
      </p:sp>
      <p:sp>
        <p:nvSpPr>
          <p:cNvPr id="7" name="Shape 4"/>
          <p:cNvSpPr/>
          <p:nvPr/>
        </p:nvSpPr>
        <p:spPr>
          <a:xfrm>
            <a:off x="777240" y="4937760"/>
            <a:ext cx="5166360" cy="576072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5"/>
          <p:cNvSpPr/>
          <p:nvPr/>
        </p:nvSpPr>
        <p:spPr>
          <a:xfrm>
            <a:off x="896112" y="5020056"/>
            <a:ext cx="49286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</a:rPr>
              <a:t>REQUIREMENT → TEST CASE → BUG → FIX → RETEST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11192256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BD5E1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Mục tiêu buổi học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Sau buổi học, sinh viên có thể thiết lập một quy trình kiểm thử cơ bản trên GitHub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22960" y="145389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Lưu trữ test case có cấu trúc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17320" y="16367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Dùng Markdown trong repository hoặc Issue template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822960" y="2167128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822960" y="229514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Execute test case có bằng chứng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17320" y="24780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Ghi test run, result, tester, ngày chạy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22960" y="3008376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822960" y="31363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4173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Tạo bug từ test case fail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17320" y="33192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Liên kết Found by Test Case + Related bug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22960" y="3849624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41732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Theo dõi sửa lỗi bằng GitHub Issues/Projects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41605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Labels, assignee, milestone, status board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822960" y="4690872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822960" y="481888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5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417320" y="4672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</a:rPr>
              <a:t>Retest và traceability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17320" y="50017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Requirement ↔ Test Case ↔ Bug ↔ Pull Request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7909560" y="141732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8183880" y="1783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Kết quả cuối cùng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229600" y="2423160"/>
            <a:ext cx="251460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334155"/>
                </a:solidFill>
              </a:rPr>
              <a:t>Mỗi lỗi phát hiện đều truy vết được:</a:t>
            </a:r>
            <a:endParaRPr lang="en-US" sz="1520" dirty="0"/>
          </a:p>
          <a:p>
            <a:pPr marL="0" indent="0" algn="ctr">
              <a:buNone/>
            </a:pP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334155"/>
                </a:solidFill>
              </a:rPr>
              <a:t>Test case nào phát hiện?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334155"/>
                </a:solidFill>
              </a:rPr>
              <a:t>Bug issue nào mô tả?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334155"/>
                </a:solidFill>
              </a:rPr>
              <a:t>PR nào sửa?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334155"/>
                </a:solidFill>
              </a:rPr>
              <a:t>Tester nào retest?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hình tư duy: Test Case khác Bug như thế nào?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Test case là tài sản kiểm thử; bug là kết quả phát hiện khi execute test case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148840" y="2743200"/>
            <a:ext cx="548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4297680" y="2743200"/>
            <a:ext cx="548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6446520" y="2743200"/>
            <a:ext cx="548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8595360" y="2743200"/>
            <a:ext cx="548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0" name="Shape 8"/>
          <p:cNvSpPr/>
          <p:nvPr/>
        </p:nvSpPr>
        <p:spPr>
          <a:xfrm>
            <a:off x="640080" y="2121408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832104" y="2331720"/>
            <a:ext cx="1216152" cy="329184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877824" y="2395728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Requirement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31520" y="29535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FR-LOGIN-01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88920" y="2121408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2980944" y="2331720"/>
            <a:ext cx="1216152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3026664" y="2395728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Test Case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880360" y="29535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TC-LOGIN-003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937760" y="2121408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5129784" y="2331720"/>
            <a:ext cx="1216152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5175504" y="2395728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Test Run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0" y="29535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Sprint 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86600" y="2121408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7278624" y="2331720"/>
            <a:ext cx="1216152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7324344" y="2395728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Bug Issue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178040" y="29535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#18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235440" y="2121408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Shape 25"/>
          <p:cNvSpPr/>
          <p:nvPr/>
        </p:nvSpPr>
        <p:spPr>
          <a:xfrm>
            <a:off x="9427464" y="2331720"/>
            <a:ext cx="1216152" cy="329184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9473184" y="2395728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Pull Request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326880" y="29535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</a:rPr>
              <a:t>PR #21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60120" y="4434840"/>
            <a:ext cx="10241280" cy="841248"/>
          </a:xfrm>
          <a:prstGeom prst="roundRect">
            <a:avLst>
              <a:gd name="adj" fmla="val 8696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1078992" y="4517136"/>
            <a:ext cx="100035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713F12"/>
                </a:solidFill>
              </a:rPr>
              <a:t>Nguyên </a:t>
            </a:r>
            <a:r>
              <a:rPr lang="en-US" sz="1620" b="1" dirty="0" err="1">
                <a:solidFill>
                  <a:srgbClr val="713F12"/>
                </a:solidFill>
              </a:rPr>
              <a:t>tắc</a:t>
            </a:r>
            <a:r>
              <a:rPr lang="en-US" sz="1620" b="1" dirty="0">
                <a:solidFill>
                  <a:srgbClr val="713F12"/>
                </a:solidFill>
              </a:rPr>
              <a:t>: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713F12"/>
                </a:solidFill>
              </a:rPr>
              <a:t>Một bug phải ghi rõ “Found by Test Case ID”.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713F12"/>
                </a:solidFill>
              </a:rPr>
              <a:t>Một test case fail phải có “Related bug #...”.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 cách quản lý test case trên GitHub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Tùy quy mô dự án, có thể chọn file Markdown, Issues hoặc mô hình Hybrid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1069848" y="1783080"/>
            <a:ext cx="269748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115568" y="18470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1. File Markdown trong repo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33856" y="2423160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1298448" y="258775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/tests/test-cases/*.md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3856" y="3401568"/>
            <a:ext cx="26060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</a:rPr>
              <a:t>Khuyến nghị cho lớp học: có version history, review bằng Pull Request, dễ chấm điểm.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269748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4937760" y="18470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2. Mỗi test case là một Issue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2423160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5120640" y="258775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label: type: test-case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3401568"/>
            <a:ext cx="26060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</a:rPr>
              <a:t>Dễ thao tác trên UI, dễ assign và lọc; nhưng dễ rối nếu có nhiều test case.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394192" y="141732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8714232" y="1783080"/>
            <a:ext cx="2697480" cy="329184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8759952" y="18470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3. Hybrid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78240" y="2423160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8942832" y="258775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 case = file; Bug = Issue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3401568"/>
            <a:ext cx="260604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</a:rPr>
              <a:t>Tốt nhất: test case là tài liệu kiểm thử, bug là luồng xử lý lỗi.</a:t>
            </a:r>
            <a:endParaRPr lang="en-US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Cấu trúc thư mục đề xuất trong repository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Tổ chức để giảng viên và nhóm dễ kiểm tra, review và thống kê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440680" cy="4480560"/>
          </a:xfrm>
          <a:prstGeom prst="roundRect">
            <a:avLst>
              <a:gd name="adj" fmla="val 1020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5111496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project-root/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src/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tests/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test-cases/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├── login/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│   ├── TC-LOGIN-001.md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│   └── TC-LOGIN-002.md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├── register/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└── checkout/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├── test-runs/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├── sprint-1-test-run.md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│   └── sprint-2-regression.md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└── test-summary/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│       └── traceability-matrix.md</a:t>
            </a:r>
            <a:endParaRPr lang="en-US" sz="1090" dirty="0"/>
          </a:p>
          <a:p>
            <a:pPr marL="0" indent="0">
              <a:buNone/>
            </a:pPr>
            <a:r>
              <a:rPr lang="en-US" sz="109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.github/ISSUE_TEMPLATE/</a:t>
            </a:r>
            <a:endParaRPr lang="en-US" sz="1090" dirty="0"/>
          </a:p>
        </p:txBody>
      </p:sp>
      <p:sp>
        <p:nvSpPr>
          <p:cNvPr id="8" name="Text 6"/>
          <p:cNvSpPr/>
          <p:nvPr/>
        </p:nvSpPr>
        <p:spPr>
          <a:xfrm>
            <a:off x="6629400" y="14173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Vai trò từng thư mục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720840" y="1965960"/>
            <a:ext cx="448056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550" b="1" dirty="0">
                <a:solidFill>
                  <a:srgbClr val="334155"/>
                </a:solidFill>
              </a:rPr>
              <a:t>test-cases/: thiết kế test case chính thức
</a:t>
            </a:r>
            <a:endParaRPr lang="en-US" sz="1550" dirty="0"/>
          </a:p>
          <a:p>
            <a:r>
              <a:rPr lang="en-US" sz="1550" dirty="0">
                <a:solidFill>
                  <a:srgbClr val="334155"/>
                </a:solidFill>
              </a:rPr>
              <a:t>test-runs/: kết quả thực thi theo sprint hoặc đợt regression
</a:t>
            </a:r>
            <a:endParaRPr lang="en-US" sz="1550" dirty="0"/>
          </a:p>
          <a:p>
            <a:r>
              <a:rPr lang="en-US" sz="1550" dirty="0">
                <a:solidFill>
                  <a:srgbClr val="334155"/>
                </a:solidFill>
              </a:rPr>
              <a:t>test-summary/: báo cáo tổng hợp và traceability matrix
</a:t>
            </a:r>
            <a:endParaRPr lang="en-US" sz="1550" dirty="0"/>
          </a:p>
          <a:p>
            <a:r>
              <a:rPr lang="en-US" sz="1550" dirty="0">
                <a:solidFill>
                  <a:srgbClr val="334155"/>
                </a:solidFill>
              </a:rPr>
              <a:t>.github/ISSUE_TEMPLATE/: mẫu Bug Report, Test Task, Test Run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12280" y="4828032"/>
            <a:ext cx="406908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6931152" y="4910328"/>
            <a:ext cx="38313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4532D"/>
                </a:solidFill>
              </a:rPr>
              <a:t>Quy tắc: Không sửa test case trực tiếp trên main.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4532D"/>
                </a:solidFill>
              </a:rPr>
              <a:t>Tạo branch + Pull Request để review thay đổi test case.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Quy ước đặt mã test case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Mã test case là khóa để liên kết requirement, test run và bug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Cấu trúc đề xuất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3977640" cy="2331720"/>
          </a:xfrm>
          <a:prstGeom prst="roundRect">
            <a:avLst>
              <a:gd name="adj" fmla="val 1961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033272" y="2066544"/>
            <a:ext cx="36484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TC-[MODULE]-[NUMBER]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TC-LOGIN-001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TC-REGISTER-005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TC-CART-003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TC-CHECKOUT-010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691640"/>
            <a:ext cx="5669280" cy="594360"/>
          </a:xfrm>
          <a:prstGeom prst="rect">
            <a:avLst/>
          </a:prstGeom>
          <a:solidFill>
            <a:srgbClr val="2563E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5559552" y="178308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Mã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94192" y="178308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Ý nghĩa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0" y="2286000"/>
            <a:ext cx="56692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5559552" y="237744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</a:rPr>
              <a:t>TC-LOGIN-001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94192" y="237744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Test case số 1 của Login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2880360"/>
            <a:ext cx="566928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5559552" y="297180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</a:rPr>
              <a:t>TC-REGISTER-005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94192" y="297180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Test case số 5 của Register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3474720"/>
            <a:ext cx="5669280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5559552" y="356616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</a:rPr>
              <a:t>TC-CHECKOUT-010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566160"/>
            <a:ext cx="26883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Test case số 10 của Checkout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0" y="4526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444"/>
                </a:solidFill>
              </a:rPr>
              <a:t>Không nên dùng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0" y="4864608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3F1212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5650992" y="5029200"/>
            <a:ext cx="25968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EE2E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test1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EE2E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check-login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EE2E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case-a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EE2E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login-success-test-v2-final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23960" y="4800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8942832" y="4882896"/>
            <a:ext cx="209397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E3A8A"/>
                </a:solidFill>
              </a:rPr>
              <a:t>Mã test case ổn định giúp traceability không bị đứt khi đổi tiêu đề test case.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file Test Case chuẩn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Mỗi test case nên đủ thông tin để người khác execute lại được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5623560" cy="5074920"/>
          </a:xfrm>
          <a:prstGeom prst="roundRect">
            <a:avLst>
              <a:gd name="adj" fmla="val 901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758952" y="1463040"/>
            <a:ext cx="5294376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TC-LOGIN-001: Đăng nhập thành công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Requirement ID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FR-LOGIN-01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Module / Test type / Technique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Login / Functional / Equivalence Partitioning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Preconditions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User đã có tài khoản hợp lệ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- User đang ở trang Login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Test data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| Email | user01@gmail.com |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| Password | Abc@123456 |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Test steps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Mở trang Login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Nhập email và password hợp lệ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Bấm Login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Expected result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Đăng nhập thành công và chuyển về Home.</a:t>
            </a:r>
            <a:endParaRPr lang="en-US" sz="845" dirty="0"/>
          </a:p>
          <a:p>
            <a:pPr marL="0" indent="0">
              <a:buNone/>
            </a:pP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Status / Related bugs</a:t>
            </a:r>
            <a:endParaRPr lang="en-US" sz="845" dirty="0"/>
          </a:p>
          <a:p>
            <a:pPr marL="0" indent="0">
              <a:buNone/>
            </a:pPr>
            <a:r>
              <a:rPr lang="en-US" sz="845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 Run / None</a:t>
            </a:r>
            <a:endParaRPr lang="en-US" sz="845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6720840" y="147675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178040" y="141732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Requirement 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87184" y="170992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Để đo coverage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720840" y="221284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6720840" y="225399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78040" y="219456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87184" y="248716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Tránh lỗi do môi trường/test data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720840" y="299008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6720840" y="303123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78040" y="29718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 data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87184" y="326440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Rõ dữ liệu hợp lệ/không hợp lệ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720840" y="376732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6720840" y="380847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78040" y="37490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Expected result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04164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Căn cứ xác định pass/fail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6720840" y="4544568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720840" y="4585716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78040" y="45262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Related bugs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87184" y="4818888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Liên kết bug khi test fail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858000" y="534924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6976872" y="5431536"/>
            <a:ext cx="3739896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713F12"/>
                </a:solidFill>
              </a:rPr>
              <a:t>Test case tốt không chỉ có steps, mà phải có điều kiện, dữ liệu và expected result rõ ràng.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Run: ghi nhận kết quả execute test case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Test case là thiết kế; test run là bằng chứng đã chạy trong một sprint/release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35640" cy="502920"/>
          </a:xfrm>
          <a:prstGeom prst="rect">
            <a:avLst/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75895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</a:rPr>
              <a:t>Test Case ID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56489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Module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37083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Tester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17677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Result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8271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Related Bug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9788652" y="160020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Note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85800" y="2011680"/>
            <a:ext cx="10835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75895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334155"/>
                </a:solidFill>
              </a:rPr>
              <a:t>TC-LOGIN-001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56489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Login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37083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An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7677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Pass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98271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788652" y="210312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5800" y="2514600"/>
            <a:ext cx="1083564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75895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334155"/>
                </a:solidFill>
              </a:rPr>
              <a:t>TC-LOGIN-002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56489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Login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37083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Bình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17677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Fail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98271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#18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788652" y="260604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Không validate password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85800" y="3017520"/>
            <a:ext cx="108356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75895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334155"/>
                </a:solidFill>
              </a:rPr>
              <a:t>TC-REG-001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256489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Register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37083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Chi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17677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Blocked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98271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#19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9788652" y="310896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Không mở được form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85800" y="3520440"/>
            <a:ext cx="10835640" cy="5029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75895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334155"/>
                </a:solidFill>
              </a:rPr>
              <a:t>TC-CART-003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256489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Cart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437083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Dũng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617677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</a:rPr>
              <a:t>Pass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798271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9788652" y="3611880"/>
            <a:ext cx="16596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822960" y="4572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Trạng thái test run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914400" y="5010912"/>
            <a:ext cx="1005840" cy="329184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Text 41"/>
          <p:cNvSpPr/>
          <p:nvPr/>
        </p:nvSpPr>
        <p:spPr>
          <a:xfrm>
            <a:off x="960120" y="507492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Pass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103120" y="5010912"/>
            <a:ext cx="100584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Text 43"/>
          <p:cNvSpPr/>
          <p:nvPr/>
        </p:nvSpPr>
        <p:spPr>
          <a:xfrm>
            <a:off x="2148840" y="507492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Fail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291840" y="5010912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Text 45"/>
          <p:cNvSpPr/>
          <p:nvPr/>
        </p:nvSpPr>
        <p:spPr>
          <a:xfrm>
            <a:off x="3337560" y="5074920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Blocked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4709160" y="5010912"/>
            <a:ext cx="1234440" cy="329184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7"/>
          <p:cNvSpPr/>
          <p:nvPr/>
        </p:nvSpPr>
        <p:spPr>
          <a:xfrm>
            <a:off x="4754880" y="5074920"/>
            <a:ext cx="1143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Not Run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720840" y="48006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1" name="Text 49"/>
          <p:cNvSpPr/>
          <p:nvPr/>
        </p:nvSpPr>
        <p:spPr>
          <a:xfrm>
            <a:off x="6839712" y="4882896"/>
            <a:ext cx="378561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7F1D1D"/>
                </a:solidFill>
              </a:rPr>
              <a:t>Khi Result = Fail hoặc Blocked → phải có Related Bug hoặc lý do rõ ràng.</a:t>
            </a:r>
            <a:endParaRPr lang="en-US" sz="1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Labels cần có cho quản lý test case và bug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Dùng tiền tố để tạo “nhóm label” dễ lọc và dễ thống kê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Type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type: test-case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31520" y="2679192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type: test-run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31520" y="3209544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777240" y="327355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type: bug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777240" y="380390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type: task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283464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2971800" y="1673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Module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63240" y="214884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3108960" y="22128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module: login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3063240" y="2679192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3108960" y="2743200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module: register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063240" y="3209544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3108960" y="327355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module: cart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063240" y="3739896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3108960" y="380390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module: checkout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063240" y="4270248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3108960" y="433425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module: api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16636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5303520" y="1673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Technique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94960" y="214884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5440680" y="22128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technique: EP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394960" y="2679192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5440680" y="2743200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technique: BVA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5394960" y="3209544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5440680" y="327355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technique: decision-table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394960" y="3739896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5440680" y="380390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technique: state-transition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749808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7635240" y="1673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Result/Status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726680" y="214884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7772400" y="22128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result: pass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726680" y="2679192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Text 41"/>
          <p:cNvSpPr/>
          <p:nvPr/>
        </p:nvSpPr>
        <p:spPr>
          <a:xfrm>
            <a:off x="7772400" y="2743200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result: fail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7726680" y="3209544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5" name="Text 43"/>
          <p:cNvSpPr/>
          <p:nvPr/>
        </p:nvSpPr>
        <p:spPr>
          <a:xfrm>
            <a:off x="7772400" y="327355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result: blocked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726680" y="3739896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7" name="Text 45"/>
          <p:cNvSpPr/>
          <p:nvPr/>
        </p:nvSpPr>
        <p:spPr>
          <a:xfrm>
            <a:off x="7772400" y="380390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status: ready for retest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9829800" y="1417320"/>
            <a:ext cx="2057400" cy="42062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7"/>
          <p:cNvSpPr/>
          <p:nvPr/>
        </p:nvSpPr>
        <p:spPr>
          <a:xfrm>
            <a:off x="9966960" y="16733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Priority/Severity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0058400" y="2148840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1" name="Text 49"/>
          <p:cNvSpPr/>
          <p:nvPr/>
        </p:nvSpPr>
        <p:spPr>
          <a:xfrm>
            <a:off x="10104120" y="22128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severity: critical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10058400" y="2679192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51"/>
          <p:cNvSpPr/>
          <p:nvPr/>
        </p:nvSpPr>
        <p:spPr>
          <a:xfrm>
            <a:off x="10104120" y="2743200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severity: major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10058400" y="3209544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Text 53"/>
          <p:cNvSpPr/>
          <p:nvPr/>
        </p:nvSpPr>
        <p:spPr>
          <a:xfrm>
            <a:off x="10104120" y="327355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priority: P0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10058400" y="3739896"/>
            <a:ext cx="160020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Text 55"/>
          <p:cNvSpPr/>
          <p:nvPr/>
        </p:nvSpPr>
        <p:spPr>
          <a:xfrm>
            <a:off x="10104120" y="380390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priority: P1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1143000" y="594360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Filter mẫu: is:issue label:"type: bug" label:"status: ready for retest"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Project cho Test Execution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Project board giúp nhìn toàn bộ tiến độ kiểm thử trong sprint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70408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4980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 Run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751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75895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66751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75895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66751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75895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242316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262432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267004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Running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8775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267919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58775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267919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58775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267919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434340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Shape 23"/>
          <p:cNvSpPr/>
          <p:nvPr/>
        </p:nvSpPr>
        <p:spPr>
          <a:xfrm>
            <a:off x="454456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459028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Passed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0799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459943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450799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459943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50799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459943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26364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Shape 32"/>
          <p:cNvSpPr/>
          <p:nvPr/>
        </p:nvSpPr>
        <p:spPr>
          <a:xfrm>
            <a:off x="646480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651052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Failed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2823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651967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42823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651967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42823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651967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818388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Shape 41"/>
          <p:cNvSpPr/>
          <p:nvPr/>
        </p:nvSpPr>
        <p:spPr>
          <a:xfrm>
            <a:off x="838504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4" name="Text 42"/>
          <p:cNvSpPr/>
          <p:nvPr/>
        </p:nvSpPr>
        <p:spPr>
          <a:xfrm>
            <a:off x="843076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Blocked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34847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Text 44"/>
          <p:cNvSpPr/>
          <p:nvPr/>
        </p:nvSpPr>
        <p:spPr>
          <a:xfrm>
            <a:off x="843991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834847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8" name="Text 46"/>
          <p:cNvSpPr/>
          <p:nvPr/>
        </p:nvSpPr>
        <p:spPr>
          <a:xfrm>
            <a:off x="843991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834847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0" name="Text 48"/>
          <p:cNvSpPr/>
          <p:nvPr/>
        </p:nvSpPr>
        <p:spPr>
          <a:xfrm>
            <a:off x="843991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10104120" y="1417320"/>
            <a:ext cx="1627632" cy="361188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2" name="Shape 50"/>
          <p:cNvSpPr/>
          <p:nvPr/>
        </p:nvSpPr>
        <p:spPr>
          <a:xfrm>
            <a:off x="10305288" y="1691640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3" name="Text 51"/>
          <p:cNvSpPr/>
          <p:nvPr/>
        </p:nvSpPr>
        <p:spPr>
          <a:xfrm>
            <a:off x="10351008" y="1755648"/>
            <a:ext cx="1133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Retest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0268712" y="23317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5" name="Text 53"/>
          <p:cNvSpPr/>
          <p:nvPr/>
        </p:nvSpPr>
        <p:spPr>
          <a:xfrm>
            <a:off x="10360152" y="24780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TC-LOGIN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0268712" y="30175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7" name="Text 55"/>
          <p:cNvSpPr/>
          <p:nvPr/>
        </p:nvSpPr>
        <p:spPr>
          <a:xfrm>
            <a:off x="10360152" y="31638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TC-CART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10268712" y="3703320"/>
            <a:ext cx="129844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59" name="Text 57"/>
          <p:cNvSpPr/>
          <p:nvPr/>
        </p:nvSpPr>
        <p:spPr>
          <a:xfrm>
            <a:off x="10360152" y="3849624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334155"/>
                </a:solidFill>
              </a:rPr>
              <a:t>TC-API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1005840" y="5285232"/>
            <a:ext cx="10149840" cy="150223"/>
          </a:xfrm>
          <a:prstGeom prst="rect">
            <a:avLst/>
          </a:prstGeom>
          <a:solidFill>
            <a:srgbClr val="4F46E5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1" name="Text 59"/>
          <p:cNvSpPr/>
          <p:nvPr/>
        </p:nvSpPr>
        <p:spPr>
          <a:xfrm>
            <a:off x="1078992" y="5376672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 field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153912" y="5376672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Ví dụ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5840" y="5435455"/>
            <a:ext cx="10149840" cy="150223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4" name="Text 62"/>
          <p:cNvSpPr/>
          <p:nvPr/>
        </p:nvSpPr>
        <p:spPr>
          <a:xfrm>
            <a:off x="1078992" y="5526895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Test Case ID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153912" y="5526895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TC-LOGIN-003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05840" y="5585678"/>
            <a:ext cx="10149840" cy="150223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7" name="Text 65"/>
          <p:cNvSpPr/>
          <p:nvPr/>
        </p:nvSpPr>
        <p:spPr>
          <a:xfrm>
            <a:off x="1078992" y="5677118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Module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153912" y="5677118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Login / Register / Cart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05840" y="5735901"/>
            <a:ext cx="10149840" cy="150223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0" name="Text 68"/>
          <p:cNvSpPr/>
          <p:nvPr/>
        </p:nvSpPr>
        <p:spPr>
          <a:xfrm>
            <a:off x="1078992" y="5827341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Result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153912" y="5827341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Pass / Fail / Blocked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005840" y="5886123"/>
            <a:ext cx="10149840" cy="150223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3" name="Text 71"/>
          <p:cNvSpPr/>
          <p:nvPr/>
        </p:nvSpPr>
        <p:spPr>
          <a:xfrm>
            <a:off x="1078992" y="5977563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Related Bug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153912" y="5977563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#18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05840" y="6036346"/>
            <a:ext cx="10149840" cy="150223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6" name="Text 74"/>
          <p:cNvSpPr/>
          <p:nvPr/>
        </p:nvSpPr>
        <p:spPr>
          <a:xfrm>
            <a:off x="1078992" y="6127786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Tester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153912" y="6127786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Nguyễn Văn A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005840" y="6186569"/>
            <a:ext cx="10149840" cy="150223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9" name="Text 77"/>
          <p:cNvSpPr/>
          <p:nvPr/>
        </p:nvSpPr>
        <p:spPr>
          <a:xfrm>
            <a:off x="1078992" y="6278009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34155"/>
                </a:solidFill>
              </a:rPr>
              <a:t>Execution Date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153912" y="6278009"/>
            <a:ext cx="4928616" cy="3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</a:rPr>
              <a:t>08/06/2026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Cách kết hợp Test Case và Bug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Một test fail phải sinh ra bug issue có liên kết hai chiều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pic>
        <p:nvPicPr>
          <p:cNvPr id="6" name="Image 0" descr="/mnt/data/a_clean_vector_illustration_infographic_on_a_w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89888"/>
            <a:ext cx="5029200" cy="28254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Liên kết hai chiều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46520" y="1920240"/>
            <a:ext cx="470916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334155"/>
                </a:solidFill>
              </a:rPr>
              <a:t>Trong Bug Issue: ghi Found by Test Case: TC-LOGIN-003
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</a:rPr>
              <a:t>Trong file Test Run: ghi Result = Fail, Related Bug = #18
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</a:rPr>
              <a:t>Trong file Test Case: bổ sung Related bugs nếu bug nghiêm trọng hoặc tái diễn
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</a:rPr>
              <a:t>Trong Pull Request: ghi Fixes #18 hoặc Related to #18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97280" y="4480560"/>
            <a:ext cx="438912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7"/>
          <p:cNvSpPr/>
          <p:nvPr/>
        </p:nvSpPr>
        <p:spPr>
          <a:xfrm>
            <a:off x="1261872" y="4645152"/>
            <a:ext cx="40599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TC-LOGIN-003 fail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↓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 Bug Issue #18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↓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 #21 fixes #18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↓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Retest TC-LOGIN-003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↓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Close #18</a:t>
            </a:r>
            <a:endParaRPr lang="en-US" sz="1480" dirty="0"/>
          </a:p>
        </p:txBody>
      </p:sp>
      <p:sp>
        <p:nvSpPr>
          <p:cNvPr id="11" name="Shape 8"/>
          <p:cNvSpPr/>
          <p:nvPr/>
        </p:nvSpPr>
        <p:spPr>
          <a:xfrm>
            <a:off x="6720840" y="466344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9"/>
          <p:cNvSpPr/>
          <p:nvPr/>
        </p:nvSpPr>
        <p:spPr>
          <a:xfrm>
            <a:off x="6839712" y="4745736"/>
            <a:ext cx="39227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7F1D1D"/>
                </a:solidFill>
              </a:rPr>
              <a:t>Không tạo bug chung chung. Bug phải truy ngược được test case nào đã phát hiện.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Bug Report khi Test Case fail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Bug là Issue riêng; không chỉ ghi comment trong file test case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5897880" cy="5074920"/>
          </a:xfrm>
          <a:prstGeom prst="roundRect">
            <a:avLst>
              <a:gd name="adj" fmla="val 901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04672" y="1463040"/>
            <a:ext cx="5568696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Title: [BUG][Login] Hệ thống cho phép đăng nhập với password sai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Found by Test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TC-LOGIN-003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Requirement liên quan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FR-LOGIN-02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Severity / Priority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Major / P1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Environment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Browser, OS, URL, build/commit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Steps to reproduce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1. Mở trang Login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2. Nhập email hợp lệ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3. Nhập password sai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 Bấm Login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Expected result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Không cho đăng nhập và hiển thị lỗi.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Actual result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Hệ thống vẫn đăng nhập thành công.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## Evidence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Screenshot / video / console log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Labels nên gắn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132320" y="193852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7178040" y="200253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type: bug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0" y="244144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7178040" y="250545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module: login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294436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7178040" y="300837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severity: major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344728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7178040" y="351129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priority: P1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395020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7178040" y="401421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status: new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445312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7178040" y="451713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found-by: test-case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51206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7205472" y="5202936"/>
            <a:ext cx="323697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713F12"/>
                </a:solidFill>
              </a:rPr>
              <a:t>Nếu thiếu Expected/Actual/Evidence, developer rất khó sửa và tester khó retest.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chuẩn từ thiết kế test case đến đóng bug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Có checkpoint rõ ràng cho tester, developer và test lead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Design Test Case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331720" y="192938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2926080" y="1600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304495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Review Test Case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572000" y="192938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5166360" y="1600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528523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Execute Test Case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812280" y="192938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5" name="Shape 13"/>
          <p:cNvSpPr/>
          <p:nvPr/>
        </p:nvSpPr>
        <p:spPr>
          <a:xfrm>
            <a:off x="7406640" y="1600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752551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Fail?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9052560" y="192938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9646920" y="1600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976579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Create Bug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804672" y="424281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Assign Dev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2331720" y="448970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2926080" y="41605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3044952" y="424281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Fix in PR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4572000" y="448970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26" name="Shape 24"/>
          <p:cNvSpPr/>
          <p:nvPr/>
        </p:nvSpPr>
        <p:spPr>
          <a:xfrm>
            <a:off x="5166360" y="41605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5285232" y="424281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Ready for Retest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812280" y="448970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7406640" y="41605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7525512" y="424281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Re-execute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052560" y="4489704"/>
            <a:ext cx="45720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32" name="Shape 30"/>
          <p:cNvSpPr/>
          <p:nvPr/>
        </p:nvSpPr>
        <p:spPr>
          <a:xfrm>
            <a:off x="9646920" y="416052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3" name="Text 31"/>
          <p:cNvSpPr/>
          <p:nvPr/>
        </p:nvSpPr>
        <p:spPr>
          <a:xfrm>
            <a:off x="9765792" y="4242816"/>
            <a:ext cx="1408176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Close / Reopen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9555480" y="2267712"/>
            <a:ext cx="0" cy="1892808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32004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C55E"/>
                </a:solidFill>
              </a:rPr>
              <a:t>Nếu Pass → ghi result pass và không tạo bug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011680" y="5065775"/>
            <a:ext cx="8138160" cy="1325879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2130552" y="5431536"/>
            <a:ext cx="790041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E3A8A"/>
                </a:solidFill>
              </a:rPr>
              <a:t>Checkpoint bắt buộc trước khi Close bug: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E3A8A"/>
                </a:solidFill>
              </a:rPr>
              <a:t>1) PR đã merge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E3A8A"/>
                </a:solidFill>
              </a:rPr>
              <a:t>2) Tester retest pass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E3A8A"/>
                </a:solidFill>
              </a:rPr>
              <a:t>3) Comment retest result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E3A8A"/>
                </a:solidFill>
              </a:rPr>
              <a:t>4) Không phát sinh regression nghiêm trọng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Traceability Matrix: truy vết Requirement - Test Case - Bug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Bảng này giúp chứng minh coverage và không bỏ sót lỗi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835640" cy="510540"/>
          </a:xfrm>
          <a:prstGeom prst="rect">
            <a:avLst/>
          </a:prstGeom>
          <a:solidFill>
            <a:srgbClr val="0F172A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758952" y="15087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087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93208" y="15087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0336" y="15087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Issue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27464" y="15087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1927860"/>
            <a:ext cx="10835640" cy="5105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758952" y="201930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FR-LOGIN-01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01930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TC-LOGIN-001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93208" y="201930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Pass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60336" y="201930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427464" y="201930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438400"/>
            <a:ext cx="10835640" cy="51054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758952" y="252984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FR-LOGIN-02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52984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TC-LOGIN-003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93208" y="252984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Fail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0336" y="252984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#18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27464" y="252984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Ready for Retest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2948940"/>
            <a:ext cx="10835640" cy="5105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758952" y="304038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FR-REGISTER-01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304038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TC-REGISTER-001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93208" y="304038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Pass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0336" y="304038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27464" y="304038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3459480"/>
            <a:ext cx="10835640" cy="51054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758952" y="355092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FR-REGISTER-02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355092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TC-REGISTER-005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93208" y="355092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Fail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60336" y="355092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#24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27464" y="355092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Open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3970020"/>
            <a:ext cx="10835640" cy="5105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758952" y="40614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</a:rPr>
              <a:t>FR-CART-01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0614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TC-CART-001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93208" y="40614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Blocked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0336" y="40614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#27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27464" y="4061460"/>
            <a:ext cx="2020824" cy="3642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Blocked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49834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3" name="Text 41"/>
          <p:cNvSpPr/>
          <p:nvPr/>
        </p:nvSpPr>
        <p:spPr>
          <a:xfrm>
            <a:off x="1234440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Coverage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234440" y="54681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Requirement nào đã test?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17720" y="49834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6" name="Text 44"/>
          <p:cNvSpPr/>
          <p:nvPr/>
        </p:nvSpPr>
        <p:spPr>
          <a:xfrm>
            <a:off x="4754880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Defect traceability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754880" y="54681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Bug nào thuộc requirement nào?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38160" y="498348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49" name="Text 47"/>
          <p:cNvSpPr/>
          <p:nvPr/>
        </p:nvSpPr>
        <p:spPr>
          <a:xfrm>
            <a:off x="8275320" y="51663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Regression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275320" y="54681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Test case nào cần chạy lại?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hợp với Automated Test và GitHub Actions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21792" y="9052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64748B"/>
                </a:solidFill>
              </a:rPr>
              <a:t>Khi có automation, test report có thể lưu dưới dạng artifact và liên kết về bug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166360" cy="4160520"/>
          </a:xfrm>
          <a:prstGeom prst="roundRect">
            <a:avLst>
              <a:gd name="adj" fmla="val 1099"/>
            </a:avLst>
          </a:prstGeom>
          <a:solidFill>
            <a:srgbClr val="0B102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941832" y="1399032"/>
            <a:ext cx="4837176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name: Run Tests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on: [push, pull_request]</a:t>
            </a:r>
            <a:endParaRPr lang="en-US" sz="1080" dirty="0"/>
          </a:p>
          <a:p>
            <a:pPr marL="0" indent="0">
              <a:buNone/>
            </a:pP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jobs: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test: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runs-on: ubuntu-latest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steps: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uses: actions/checkout@v4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run: npm install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run: npm test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 uses: actions/upload-artifact@v4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with: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name: test-report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path: reports/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537960" y="1417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Khi test tự động fail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66344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334155"/>
                </a:solidFill>
              </a:rPr>
              <a:t>Kiểm tra log/test report trong GitHub Actions
</a:t>
            </a:r>
            <a:endParaRPr lang="en-US" sz="1420" dirty="0"/>
          </a:p>
          <a:p>
            <a:r>
              <a:rPr lang="en-US" sz="1420" dirty="0">
                <a:solidFill>
                  <a:srgbClr val="334155"/>
                </a:solidFill>
              </a:rPr>
              <a:t>Xác định test case hoặc test script bị fail
</a:t>
            </a:r>
            <a:endParaRPr lang="en-US" sz="1420" dirty="0"/>
          </a:p>
          <a:p>
            <a:r>
              <a:rPr lang="en-US" sz="1420" dirty="0">
                <a:solidFill>
                  <a:srgbClr val="334155"/>
                </a:solidFill>
              </a:rPr>
              <a:t>Tạo Bug Issue nếu lỗi do hệ thống, không phải lỗi test script
</a:t>
            </a:r>
            <a:endParaRPr lang="en-US" sz="1420" dirty="0"/>
          </a:p>
          <a:p>
            <a:r>
              <a:rPr lang="en-US" sz="1420" dirty="0">
                <a:solidFill>
                  <a:srgbClr val="334155"/>
                </a:solidFill>
              </a:rPr>
              <a:t>Trong bug ghi: Found by: GitHub Actions + workflow run + test case/script
</a:t>
            </a:r>
            <a:endParaRPr lang="en-US" sz="1420" dirty="0"/>
          </a:p>
          <a:p>
            <a:r>
              <a:rPr lang="en-US" sz="1420" dirty="0">
                <a:solidFill>
                  <a:srgbClr val="334155"/>
                </a:solidFill>
              </a:rPr>
              <a:t>Sau khi fix, workflow phải pass trước khi close bug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29400" y="525780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6748272" y="5340096"/>
            <a:ext cx="39227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4C1D95"/>
                </a:solidFill>
              </a:rPr>
              <a:t>Automation không thay thế test case; automation là cách execute một phần test case nhanh và lặp lại.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triển khai nhanh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GitHub Test Case Management · Software Testing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68680" y="136245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7" name="Text 5"/>
          <p:cNvSpPr/>
          <p:nvPr/>
        </p:nvSpPr>
        <p:spPr>
          <a:xfrm>
            <a:off x="868680" y="13944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307592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Có thư mục /tests/test-cases/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68680" y="20299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868680" y="20619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307592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Mỗi test case có mã TC-[MODULE]-[NUMBER]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68680" y="269748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868680" y="27294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307592" y="2660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Có file test-run theo sprint hoặc đợt regression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868680" y="336499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868680" y="33969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307592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Bug Issue có Found by Test Case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68680" y="4032504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868680" y="40645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307592" y="3995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Test run ghi Related Bug khi fail/blocked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446520" y="136245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6446520" y="13944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6885432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Có labels type/module/result/severity/priority/status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6446520" y="20299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6446520" y="20619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885432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Có Project board theo trạng thái kiểm thử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446520" y="269748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6446520" y="27294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6885432" y="26609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Bug chỉ close sau khi retest pass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6446520" y="3364992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6446520" y="33969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✓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885432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</a:rPr>
              <a:t>Có traceability matrix cuối sprint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1143000" y="5486400"/>
            <a:ext cx="98755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1261872" y="5568696"/>
            <a:ext cx="96377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</a:rPr>
              <a:t>Thông điệp chính: GitHub </a:t>
            </a:r>
            <a:r>
              <a:rPr lang="en-US" sz="1500" b="1" dirty="0" err="1">
                <a:solidFill>
                  <a:srgbClr val="1E3A8A"/>
                </a:solidFill>
              </a:rPr>
              <a:t>giúp</a:t>
            </a:r>
            <a:r>
              <a:rPr lang="en-US" sz="1500" b="1" dirty="0">
                <a:solidFill>
                  <a:srgbClr val="1E3A8A"/>
                </a:solidFill>
              </a:rPr>
              <a:t> </a:t>
            </a:r>
            <a:r>
              <a:rPr lang="en-US" sz="1500" b="1" dirty="0" err="1">
                <a:solidFill>
                  <a:srgbClr val="1E3A8A"/>
                </a:solidFill>
              </a:rPr>
              <a:t>thấy</a:t>
            </a:r>
            <a:r>
              <a:rPr lang="en-US" sz="1500" b="1" dirty="0">
                <a:solidFill>
                  <a:srgbClr val="1E3A8A"/>
                </a:solidFill>
              </a:rPr>
              <a:t> được toàn bộ vòng đời kiểm thử, không chỉ viết test case rời rạc.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2390</Words>
  <Application>Microsoft Macintosh PowerPoint</Application>
  <PresentationFormat>Widescreen</PresentationFormat>
  <Paragraphs>465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Test Case trên GitHub</dc:title>
  <dc:subject>Hướng dẫn sinh viên quản lý test case trên GitHub và liên kết test case với bug</dc:subject>
  <dc:creator>OpenAI</dc:creator>
  <cp:lastModifiedBy>Hanh Tran</cp:lastModifiedBy>
  <cp:revision>6</cp:revision>
  <dcterms:created xsi:type="dcterms:W3CDTF">2026-06-08T01:58:52Z</dcterms:created>
  <dcterms:modified xsi:type="dcterms:W3CDTF">2026-06-08T09:33:06Z</dcterms:modified>
</cp:coreProperties>
</file>